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632" y="1196975"/>
            <a:ext cx="10943167" cy="1082675"/>
          </a:xfrm>
        </p:spPr>
        <p:txBody>
          <a:bodyPr/>
          <a:p>
            <a:r>
              <a:rPr lang="en-US" altLang="en-US"/>
              <a:t>Virtual Server Monitoring &amp; Performance Optimization – NeoStats Case Study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/>
              <a:t>End-to-End Data Pipeline &amp; Visualization Solution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64260" y="4918710"/>
            <a:ext cx="41376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Rohith kumar K</a:t>
            </a:r>
            <a:endParaRPr lang="en-IN" altLang="en-US"/>
          </a:p>
          <a:p>
            <a:r>
              <a:rPr lang="en-IN" altLang="en-US"/>
              <a:t>rohithkumark8148@gmail.com</a:t>
            </a:r>
            <a:endParaRPr lang="en-IN" altLang="en-US"/>
          </a:p>
          <a:p>
            <a:r>
              <a:rPr lang="en-IN" altLang="en-US"/>
              <a:t>14-03-2026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Problem Statement &amp; Objective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200"/>
              <a:t>XYZ Corporation needs real-time insights into virtual server health</a:t>
            </a:r>
            <a:endParaRPr lang="en-US" altLang="en-US" sz="2200"/>
          </a:p>
          <a:p>
            <a:r>
              <a:rPr lang="en-US" altLang="en-US" sz="2200"/>
              <a:t>Challenges: Resource bottlenecks, limited anomaly detection, downtime risks</a:t>
            </a:r>
            <a:endParaRPr lang="en-US" altLang="en-US" sz="2200"/>
          </a:p>
          <a:p>
            <a:r>
              <a:rPr lang="en-US" altLang="en-US" sz="2200" b="1"/>
              <a:t>Goal:</a:t>
            </a:r>
            <a:r>
              <a:rPr lang="en-US" altLang="en-US" sz="2200"/>
              <a:t> Build an end-to-end pipeline to:</a:t>
            </a:r>
            <a:endParaRPr lang="en-US" altLang="en-US" sz="2200"/>
          </a:p>
          <a:p>
            <a:r>
              <a:rPr lang="en-US" altLang="en-US" sz="2200"/>
              <a:t>Ingest server logs from CSV</a:t>
            </a:r>
            <a:endParaRPr lang="en-US" altLang="en-US" sz="2200"/>
          </a:p>
          <a:p>
            <a:r>
              <a:rPr lang="en-US" altLang="en-US" sz="2200"/>
              <a:t>Process &amp; enrich data securely</a:t>
            </a:r>
            <a:endParaRPr lang="en-US" altLang="en-US" sz="2200"/>
          </a:p>
          <a:p>
            <a:r>
              <a:rPr lang="en-US" altLang="en-US" sz="2200"/>
              <a:t>Visualize performance trends &amp; KPIs</a:t>
            </a:r>
            <a:endParaRPr lang="en-US" altLang="en-US" sz="2200"/>
          </a:p>
          <a:p>
            <a:endParaRPr lang="en-US" altLang="en-US" sz="2200"/>
          </a:p>
          <a:p>
            <a:pPr marL="0" indent="0">
              <a:buNone/>
            </a:pPr>
            <a:endParaRPr lang="en-US" alt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Development Approach – High-Level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200"/>
              <a:t>Layers:</a:t>
            </a:r>
            <a:endParaRPr lang="en-US" altLang="en-US" sz="2200"/>
          </a:p>
          <a:p>
            <a:pPr lvl="1"/>
            <a:r>
              <a:rPr lang="en-US" altLang="en-US" sz="1925"/>
              <a:t>Ingestion: CSV → Local MySQL (staging table)</a:t>
            </a:r>
            <a:endParaRPr lang="en-US" altLang="en-US" sz="1925"/>
          </a:p>
          <a:p>
            <a:pPr lvl="1"/>
            <a:r>
              <a:rPr lang="en-US" altLang="en-US" sz="1925"/>
              <a:t>Processing: SQL transformations + business logic</a:t>
            </a:r>
            <a:endParaRPr lang="en-US" altLang="en-US" sz="1925"/>
          </a:p>
          <a:p>
            <a:pPr lvl="1"/>
            <a:r>
              <a:rPr lang="en-US" altLang="en-US" sz="1925"/>
              <a:t>Security: GOLD layer (View with hashing &amp; masking)</a:t>
            </a:r>
            <a:endParaRPr lang="en-US" altLang="en-US" sz="1925"/>
          </a:p>
          <a:p>
            <a:pPr lvl="1"/>
            <a:r>
              <a:rPr lang="en-US" altLang="en-US" sz="1925"/>
              <a:t>Visualization: Power BI Desktop connected to MySQL</a:t>
            </a:r>
            <a:endParaRPr lang="en-US" altLang="en-US" sz="1925"/>
          </a:p>
          <a:p>
            <a:pPr lvl="1"/>
            <a:endParaRPr lang="en-US" altLang="en-US" sz="1925"/>
          </a:p>
          <a:p>
            <a:pPr lvl="1"/>
            <a:r>
              <a:rPr lang="en-US" altLang="en-US" sz="1925"/>
              <a:t>Why this stack? Local tools → full demo without cloud dependency</a:t>
            </a:r>
            <a:endParaRPr lang="en-US" altLang="en-US" sz="1925"/>
          </a:p>
          <a:p>
            <a:pPr lvl="1"/>
            <a:r>
              <a:rPr lang="en-US" altLang="en-US" sz="1925"/>
              <a:t>(Ingestion → Transformation → Secure View → Power BI)</a:t>
            </a:r>
            <a:endParaRPr lang="en-US" altLang="en-US" sz="19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 Ingestion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Source: Sample_Data_Ingestion.csv (~200 rows, 16 columns)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Method: LOAD DATA LOCAL INFILE → efficient bulk load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Standardization: Converted Log_Timestamp string → DATETIME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Quality check: NULL detection on core metrics (CPU, Memory, Disk)</a:t>
            </a:r>
            <a:endParaRPr lang="en-US" alt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 Processing &amp; Enrichment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Staging → Processed table (safety copy)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Aggregations: AVG CPU/Memory per server/location, high CPU alerts (&gt;80%)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Business logic: Performance Status (CASE statement)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Critical: &gt;85%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Warning: 70–85%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Healthy: ≤70%</a:t>
            </a:r>
            <a:endParaRPr lang="en-US" altLang="en-US" sz="2200"/>
          </a:p>
          <a:p>
            <a:pPr>
              <a:lnSpc>
                <a:spcPct val="150000"/>
              </a:lnSpc>
            </a:pPr>
            <a:endParaRPr lang="en-US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Security &amp; PII Handling (Key Strength)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Sensitive fields identified: Hostname, IP_Address, Admin_Name/Email/Phone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Approach: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SHA-256 hashing (irreversible) for Hostname &amp; IP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Masking for admin details (e.g., l****@example.com, XXXXXX0143)</a:t>
            </a:r>
            <a:endParaRPr lang="en-US" altLang="en-US" sz="2200"/>
          </a:p>
          <a:p>
            <a:pPr>
              <a:lnSpc>
                <a:spcPct val="150000"/>
              </a:lnSpc>
            </a:pP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Implemented in secure VIEW (v_secure_server_metrics) – raw data untouched</a:t>
            </a:r>
            <a:endParaRPr lang="en-US" altLang="en-US" sz="2200"/>
          </a:p>
          <a:p>
            <a:pPr marL="0" indent="0">
              <a:lnSpc>
                <a:spcPct val="150000"/>
              </a:lnSpc>
              <a:buNone/>
            </a:pPr>
            <a:endParaRPr lang="en-US" alt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Visualization – Power BI Dashboard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Connection: MySQL Connector (local server)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3 Pages: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Executive Summary: KPIs, Performance Donut, Regional CPU Bar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Reliability &amp; Traffic: Uptime vs Downtime Stacked Bar, Network Trends Dual-Line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2200"/>
              <a:t>Deep Dive: Disk I/O Top Servers, CPU-Memory Scatter, Global Slicers (OS, Location, Status)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Interactivity: Slicers for drill-down</a:t>
            </a:r>
            <a:endParaRPr lang="en-US" alt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Challenges Faced &amp; How Addressed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Challenge 1: No Azure account 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1925"/>
              <a:t>Used local MySQL + documented clear migration path to Azure SQL / Data Lake</a:t>
            </a:r>
            <a:endParaRPr lang="en-US" altLang="en-US" sz="1925"/>
          </a:p>
          <a:p>
            <a:pPr lvl="1">
              <a:lnSpc>
                <a:spcPct val="150000"/>
              </a:lnSpc>
            </a:pPr>
            <a:r>
              <a:rPr lang="en-US" altLang="en-US" sz="1925"/>
              <a:t>Handling timestamp formatting</a:t>
            </a:r>
            <a:endParaRPr lang="en-US" altLang="en-US" sz="1925"/>
          </a:p>
          <a:p>
            <a:pPr lvl="1">
              <a:lnSpc>
                <a:spcPct val="150000"/>
              </a:lnSpc>
            </a:pPr>
            <a:r>
              <a:rPr lang="en-US" altLang="en-US" sz="1925"/>
              <a:t>Data type mismatches while importing CSV</a:t>
            </a:r>
            <a:endParaRPr lang="en-US" altLang="en-US" sz="1925"/>
          </a:p>
          <a:p>
            <a:pPr>
              <a:lnSpc>
                <a:spcPct val="150000"/>
              </a:lnSpc>
            </a:pPr>
            <a:r>
              <a:rPr lang="en-US" altLang="en-US" sz="2200"/>
              <a:t>Challenge 2: Ensuring PII compliance in demo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1925"/>
              <a:t>Implemented strong hashing + masking in view layer</a:t>
            </a:r>
            <a:endParaRPr lang="en-US" altLang="en-US" sz="1925"/>
          </a:p>
          <a:p>
            <a:pPr>
              <a:lnSpc>
                <a:spcPct val="150000"/>
              </a:lnSpc>
            </a:pPr>
            <a:r>
              <a:rPr lang="en-US" altLang="en-US" sz="2200"/>
              <a:t>Challenge 3: Small dataset but time-series nature</a:t>
            </a:r>
            <a:endParaRPr lang="en-US" altLang="en-US" sz="2200"/>
          </a:p>
          <a:p>
            <a:pPr lvl="1">
              <a:lnSpc>
                <a:spcPct val="150000"/>
              </a:lnSpc>
            </a:pPr>
            <a:r>
              <a:rPr lang="en-US" altLang="en-US" sz="1925"/>
              <a:t>Focused on per-server aggregations &amp; trends over time</a:t>
            </a:r>
            <a:endParaRPr lang="en-US" alt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Assumptions &amp; Unique Considerations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200"/>
              <a:t>Assumptions:</a:t>
            </a:r>
            <a:endParaRPr lang="en-US" altLang="en-US" sz="2200"/>
          </a:p>
          <a:p>
            <a:pPr lvl="1"/>
            <a:r>
              <a:rPr lang="en-US" altLang="en-US" sz="1925"/>
              <a:t>Dataset represents sample logs (200 rows) – scalable logic applied</a:t>
            </a:r>
            <a:endParaRPr lang="en-US" altLang="en-US" sz="1925"/>
          </a:p>
          <a:p>
            <a:pPr lvl="1"/>
            <a:r>
              <a:rPr lang="en-US" altLang="en-US" sz="1925"/>
              <a:t>No real-time streaming needed (batch CSV ingestion sufficient)</a:t>
            </a:r>
            <a:endParaRPr lang="en-US" altLang="en-US" sz="1925"/>
          </a:p>
          <a:p>
            <a:pPr lvl="1"/>
            <a:r>
              <a:rPr lang="en-US" altLang="en-US" sz="1925"/>
              <a:t>Local prototype acceptable for evaluation</a:t>
            </a:r>
            <a:endParaRPr lang="en-US" altLang="en-US" sz="1925"/>
          </a:p>
          <a:p>
            <a:endParaRPr lang="en-US" altLang="en-US" sz="2200"/>
          </a:p>
          <a:p>
            <a:r>
              <a:rPr lang="en-US" altLang="en-US" sz="2200"/>
              <a:t>Unique considerations:</a:t>
            </a:r>
            <a:endParaRPr lang="en-US" altLang="en-US" sz="2200"/>
          </a:p>
          <a:p>
            <a:pPr lvl="1"/>
            <a:r>
              <a:rPr lang="en-US" altLang="en-US" sz="1925"/>
              <a:t>Prioritized data privacy (beyond basic requirements)</a:t>
            </a:r>
            <a:endParaRPr lang="en-US" altLang="en-US" sz="1925"/>
          </a:p>
          <a:p>
            <a:pPr lvl="1"/>
            <a:r>
              <a:rPr lang="en-US" altLang="en-US" sz="1925"/>
              <a:t>Used views for zero-copy security transformation</a:t>
            </a:r>
            <a:endParaRPr lang="en-US" altLang="en-US" sz="1925"/>
          </a:p>
          <a:p>
            <a:pPr lvl="1"/>
            <a:r>
              <a:rPr lang="en-US" altLang="en-US" sz="1925"/>
              <a:t>Portable SQL → easy move to Azure SQL Database</a:t>
            </a:r>
            <a:endParaRPr lang="en-US" altLang="en-US" sz="1925"/>
          </a:p>
          <a:p>
            <a:endParaRPr lang="en-US" altLang="en-US" sz="2200"/>
          </a:p>
          <a:p>
            <a:pPr marL="0" indent="0">
              <a:buNone/>
            </a:pPr>
            <a:endParaRPr lang="en-US" alt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Technical Stack &amp; Summary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200"/>
              <a:t>Stack:</a:t>
            </a:r>
            <a:endParaRPr lang="en-US" altLang="en-US" sz="2200"/>
          </a:p>
          <a:p>
            <a:pPr lvl="1"/>
            <a:r>
              <a:rPr lang="en-US" altLang="en-US" sz="1925"/>
              <a:t>Database: MySQL (local)</a:t>
            </a:r>
            <a:endParaRPr lang="en-US" altLang="en-US" sz="1925"/>
          </a:p>
          <a:p>
            <a:pPr lvl="1"/>
            <a:r>
              <a:rPr lang="en-US" altLang="en-US" sz="1925"/>
              <a:t>Processing: SQL (DDL, Views, Aggregations)</a:t>
            </a:r>
            <a:endParaRPr lang="en-US" altLang="en-US" sz="1925"/>
          </a:p>
          <a:p>
            <a:pPr lvl="1"/>
            <a:r>
              <a:rPr lang="en-US" altLang="en-US" sz="1925"/>
              <a:t>Visualization: Power BI Desktop</a:t>
            </a:r>
            <a:endParaRPr lang="en-US" altLang="en-US" sz="1925"/>
          </a:p>
          <a:p>
            <a:endParaRPr lang="en-US" altLang="en-US" sz="2200"/>
          </a:p>
          <a:p>
            <a:r>
              <a:rPr lang="en-US" altLang="en-US" sz="2200"/>
              <a:t>Key Achievements:</a:t>
            </a:r>
            <a:endParaRPr lang="en-US" altLang="en-US" sz="2200"/>
          </a:p>
          <a:p>
            <a:pPr lvl="1"/>
            <a:r>
              <a:rPr lang="en-US" altLang="en-US" sz="1925"/>
              <a:t>Functional pipeline with security focus</a:t>
            </a:r>
            <a:endParaRPr lang="en-US" altLang="en-US" sz="1925"/>
          </a:p>
          <a:p>
            <a:pPr lvl="1"/>
            <a:r>
              <a:rPr lang="en-US" altLang="en-US" sz="1925"/>
              <a:t>Interactive dashboard delivering actionable insights</a:t>
            </a:r>
            <a:endParaRPr lang="en-US" altLang="en-US" sz="1925"/>
          </a:p>
          <a:p>
            <a:pPr lvl="1"/>
            <a:r>
              <a:rPr lang="en-US" altLang="en-US" sz="1925"/>
              <a:t>Transparent constraint handling + production thinking</a:t>
            </a:r>
            <a:endParaRPr lang="en-US" altLang="en-US" sz="1925"/>
          </a:p>
          <a:p>
            <a:endParaRPr lang="en-US" altLang="en-US" sz="2200"/>
          </a:p>
          <a:p>
            <a:pPr marL="0" indent="0">
              <a:buNone/>
            </a:pPr>
            <a:endParaRPr lang="en-US" alt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Thank You &amp; Q&amp;A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30" y="1811655"/>
            <a:ext cx="10972800" cy="495300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en-US" sz="2200"/>
              <a:t>Ready to discuss any aspect: code, design decisions, Azure migration ideas, etc.</a:t>
            </a:r>
            <a:endParaRPr lang="en-US" altLang="en-US" sz="2200"/>
          </a:p>
          <a:p>
            <a:pPr>
              <a:lnSpc>
                <a:spcPct val="150000"/>
              </a:lnSpc>
            </a:pPr>
            <a:r>
              <a:rPr lang="en-US" altLang="en-US" sz="2200"/>
              <a:t>Contact: </a:t>
            </a:r>
            <a:r>
              <a:rPr lang="en-IN" altLang="en-US" sz="2200"/>
              <a:t>rohithkumark8148@gmail.com</a:t>
            </a:r>
            <a:endParaRPr lang="en-IN" altLang="en-US" sz="2200"/>
          </a:p>
          <a:p>
            <a:pPr>
              <a:lnSpc>
                <a:spcPct val="150000"/>
              </a:lnSpc>
            </a:pPr>
            <a:r>
              <a:rPr lang="en-IN" altLang="en-US" sz="2200"/>
              <a:t>phone   : +91 8148090702</a:t>
            </a:r>
            <a:endParaRPr lang="en-IN" altLang="en-US" sz="2200"/>
          </a:p>
          <a:p>
            <a:pPr marL="0" indent="0">
              <a:lnSpc>
                <a:spcPct val="150000"/>
              </a:lnSpc>
              <a:buNone/>
            </a:pPr>
            <a:endParaRPr lang="en-IN" alt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3197</Words>
  <Application>WPS Presentation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ROHITH KUMAR</dc:creator>
  <cp:lastModifiedBy>Rohith Kumar</cp:lastModifiedBy>
  <cp:revision>3</cp:revision>
  <dcterms:created xsi:type="dcterms:W3CDTF">2025-07-23T00:59:00Z</dcterms:created>
  <dcterms:modified xsi:type="dcterms:W3CDTF">2026-03-14T04:18:06Z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5B09423A99364249B0FB613DF9E5FF32_11</vt:lpwstr>
  </property>
  <property fmtid="{D5CDD505-2E9C-101B-9397-08002B2CF9AE}" pid="3" name="KSOProductBuildVer">
    <vt:lpwstr>1033-12.2.0.23196</vt:lpwstr>
  </property>
</Properties>
</file>